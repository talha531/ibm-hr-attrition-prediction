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model</c:v>
                </c:pt>
              </c:strCache>
            </c:strRef>
          </c:tx>
          <c:spPr>
            <a:solidFill>
              <a:srgbClr val="B4B2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</c:v>
                </c:pt>
                <c:pt idx="1">
                  <c:v>0.64</c:v>
                </c:pt>
                <c:pt idx="2">
                  <c:v>0.32</c:v>
                </c:pt>
                <c:pt idx="3">
                  <c:v>0.43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Improved model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0.87</c:v>
                </c:pt>
                <c:pt idx="1">
                  <c:v>0.75</c:v>
                </c:pt>
                <c:pt idx="2">
                  <c:v>0.58</c:v>
                </c:pt>
                <c:pt idx="3">
                  <c:v>0.65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6D11"/>
              </a:solidFill>
              <a:effectLst/>
            </c:spPr>
          </c:dPt>
          <c:dPt>
            <c:idx val="1"/>
            <c:bubble3D val="0"/>
            <c:spPr>
              <a:solidFill>
                <a:srgbClr val="BA7517"/>
              </a:solidFill>
              <a:effectLst/>
            </c:spPr>
          </c:dPt>
          <c:dPt>
            <c:idx val="2"/>
            <c:bubble3D val="0"/>
            <c:spPr>
              <a:solidFill>
                <a:srgbClr val="A32D2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</c:v>
                </c:pt>
                <c:pt idx="1">
                  <c:v>Medium Risk</c:v>
                </c:pt>
                <c:pt idx="2">
                  <c:v>High Risk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200</c:v>
                </c:pt>
                <c:pt idx="1">
                  <c:v>73</c:v>
                </c:pt>
                <c:pt idx="2">
                  <c:v>21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MACHINE LEARNING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HR Attrition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Model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pipeline: EDA → SMOTE balancing → Ensemble model → Threshold tuning → Risk scoring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78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Employees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41605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4178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9748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41605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4178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Models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416052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41788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4507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Recall ↑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3931920" cy="2103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of IBM employees leave annually — costly to replace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2199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highly imbalanced: 84% Stay vs 16% Leave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4378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 achieve 85% accuracy but only 28% recall on leavers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65576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needs to identify at-risk employees BEFORE they resign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420624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005840"/>
            <a:ext cx="420624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98448"/>
            <a:ext cx="4206240" cy="2103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24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167335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6733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4920" y="1627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1856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features, 3 new engineered columns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2286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 Balancing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5146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Oversample minority + clean borders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99008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9900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29443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3172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Gradient Boosting + Logistic Reg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4845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648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360273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8313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Auto-sweep 0.10–0.60 for best F1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430682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3068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426110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448970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per employee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was 72%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176272"/>
            <a:ext cx="18288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601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146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1719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was 0.64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2176272"/>
            <a:ext cx="18288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601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1719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was 0.32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176272"/>
            <a:ext cx="18288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96012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005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171907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was 0.43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2176272"/>
            <a:ext cx="18288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24" name="Chart 0" descr=""/>
          <p:cNvGraphicFramePr/>
          <p:nvPr/>
        </p:nvGraphicFramePr>
        <p:xfrm>
          <a:off x="365760" y="233172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5852160" y="2331720"/>
          <a:ext cx="292608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 22"/>
          <p:cNvSpPr/>
          <p:nvPr/>
        </p:nvSpPr>
        <p:spPr>
          <a:xfrm>
            <a:off x="365760" y="4846320"/>
            <a:ext cx="5303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Before vs After comparison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5852160" y="48463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Risk distribution (294 employees)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Output &amp; Risk Scoring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 Prediction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1463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755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482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048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3408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(2)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6334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Since Promotion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6334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E24B4A">
              <a:alpha val="85000"/>
            </a:srgbClr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34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4B4A"/>
                </a:solidFill>
              </a:rPr>
              <a:t>Attrition Probability: 71.1%   →   WILL LEAVE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EAF3DE"/>
          </a:solidFill>
          <a:ln w="12700">
            <a:solidFill>
              <a:srgbClr val="3B6D11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7899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– 30%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664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~200 employees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AEEDA"/>
          </a:solidFill>
          <a:ln w="12700">
            <a:solidFill>
              <a:srgbClr val="854F0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07899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– 60%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72200" y="1664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~73 employees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1005840"/>
            <a:ext cx="1325880" cy="1600200"/>
          </a:xfrm>
          <a:prstGeom prst="roundRect">
            <a:avLst>
              <a:gd name="adj" fmla="val 6897"/>
            </a:avLst>
          </a:prstGeom>
          <a:solidFill>
            <a:srgbClr val="FCEBEB"/>
          </a:solidFill>
          <a:ln w="12700">
            <a:solidFill>
              <a:srgbClr val="A32D2D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07899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138988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– 100%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1664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21 employees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27432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batch output (saved to attrition_predictions.csv)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063240"/>
          <a:ext cx="4297680" cy="182880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886968"/>
            <a:ext cx="8046720" cy="228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EAF6F6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070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was the core issue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60020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 score 85% accuracy but only 28% recall. SMOTETomek + class_weight='balanced' fixed this.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92040" y="109728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EAF6F6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20700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58968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is the biggest lever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01768" y="160020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0.50 → 0.30 threshold increased recall from 0.28 to 0.64 with minimal accuracy loss.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EAF6F6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9900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attrition drivers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38328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Monthly Income, Job Satisfaction, Years Since Promotion, and Environment Satisfaction dominate.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880360"/>
            <a:ext cx="4160520" cy="1600200"/>
          </a:xfrm>
          <a:prstGeom prst="roundRect">
            <a:avLst>
              <a:gd name="adj" fmla="val 6857"/>
            </a:avLst>
          </a:prstGeom>
          <a:solidFill>
            <a:srgbClr val="EAF6F6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01768" y="29900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58968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high-risk employees identified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01768" y="3383280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294 tested, 21 (7.1%) flagged as high-risk with &gt;60% attrition probability — 70% were true leavers.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CC0"/>
                </a:solidFill>
              </a:rPr>
              <a:t>Model saved as attrition_model.pkl  •  Predictions exported to attrition_predictions.csv  •  IBM HR Dataset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 HR Attrition Prediction — ML Project</dc:title>
  <dc:subject>PptxGenJS Presentation</dc:subject>
  <dc:creator>Data Science Project</dc:creator>
  <cp:lastModifiedBy>Data Science Project</cp:lastModifiedBy>
  <cp:revision>1</cp:revision>
  <dcterms:created xsi:type="dcterms:W3CDTF">2026-06-22T05:18:10Z</dcterms:created>
  <dcterms:modified xsi:type="dcterms:W3CDTF">2026-06-22T05:18:10Z</dcterms:modified>
</cp:coreProperties>
</file>